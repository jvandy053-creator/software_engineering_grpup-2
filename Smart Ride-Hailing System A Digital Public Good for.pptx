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67" r:id="rId5"/>
    <p:sldId id="259" r:id="rId6"/>
    <p:sldId id="268" r:id="rId7"/>
    <p:sldId id="262" r:id="rId8"/>
    <p:sldId id="261" r:id="rId9"/>
    <p:sldId id="264" r:id="rId10"/>
    <p:sldId id="265" r:id="rId11"/>
    <p:sldId id="269" r:id="rId12"/>
  </p:sldIdLst>
  <p:sldSz cx="12192000" cy="6858000"/>
  <p:notesSz cx="6858000" cy="9144000"/>
  <p:defaultTextStyle>
    <a:defPPr>
      <a:defRPr lang="en-S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E3D7A-D29A-9001-F6CF-0C6762475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7B96A5-30F0-65FB-5DF4-C6A5FFE39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C4560-DDA3-1AE7-AAD2-EA74B81A7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8BD8-E2F1-4197-A071-A930B3A1AD2B}" type="datetimeFigureOut">
              <a:rPr lang="en-SL" smtClean="0"/>
              <a:t>07/01/2026</a:t>
            </a:fld>
            <a:endParaRPr lang="en-S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31EE0-7A43-25E5-4B41-650D95251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F03EC-B6DD-151C-7C85-318211A18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52D1-1FDE-437F-97FB-3F35F1D7EAA9}" type="slidenum">
              <a:rPr lang="en-SL" smtClean="0"/>
              <a:t>‹#›</a:t>
            </a:fld>
            <a:endParaRPr lang="en-SL"/>
          </a:p>
        </p:txBody>
      </p:sp>
    </p:spTree>
    <p:extLst>
      <p:ext uri="{BB962C8B-B14F-4D97-AF65-F5344CB8AC3E}">
        <p14:creationId xmlns:p14="http://schemas.microsoft.com/office/powerpoint/2010/main" val="2299994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B4CA6-A188-8AE8-79F7-3FE57D526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47351-B2ED-7E4A-8974-67130C632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40367-CECE-B2A1-FB35-0356512CC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8BD8-E2F1-4197-A071-A930B3A1AD2B}" type="datetimeFigureOut">
              <a:rPr lang="en-SL" smtClean="0"/>
              <a:t>07/01/2026</a:t>
            </a:fld>
            <a:endParaRPr lang="en-S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60BDC-7FC5-5AB2-4448-2DC15F4D9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15154-5442-60B1-4A11-D5D6A4451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52D1-1FDE-437F-97FB-3F35F1D7EAA9}" type="slidenum">
              <a:rPr lang="en-SL" smtClean="0"/>
              <a:t>‹#›</a:t>
            </a:fld>
            <a:endParaRPr lang="en-SL"/>
          </a:p>
        </p:txBody>
      </p:sp>
    </p:spTree>
    <p:extLst>
      <p:ext uri="{BB962C8B-B14F-4D97-AF65-F5344CB8AC3E}">
        <p14:creationId xmlns:p14="http://schemas.microsoft.com/office/powerpoint/2010/main" val="3453121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B8FFC-F832-97F1-392F-FA773104B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918FB-C65A-1785-C7FB-37C4116DF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FA0D0-499F-9071-99C2-74537910A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8BD8-E2F1-4197-A071-A930B3A1AD2B}" type="datetimeFigureOut">
              <a:rPr lang="en-SL" smtClean="0"/>
              <a:t>07/01/2026</a:t>
            </a:fld>
            <a:endParaRPr lang="en-S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FB99C-F680-6136-D8A1-A179FE075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4E864-3267-9CA5-F615-71CAEA9BB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52D1-1FDE-437F-97FB-3F35F1D7EAA9}" type="slidenum">
              <a:rPr lang="en-SL" smtClean="0"/>
              <a:t>‹#›</a:t>
            </a:fld>
            <a:endParaRPr lang="en-SL"/>
          </a:p>
        </p:txBody>
      </p:sp>
    </p:spTree>
    <p:extLst>
      <p:ext uri="{BB962C8B-B14F-4D97-AF65-F5344CB8AC3E}">
        <p14:creationId xmlns:p14="http://schemas.microsoft.com/office/powerpoint/2010/main" val="2075227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989A-85EE-D2EA-00F5-157009815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6D1EF-65A4-CC36-F755-12A77F18E0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1EFEC-6F57-C572-6BCD-7B47BF0B6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1B56F-382D-E7F0-6FC0-4FF419EA4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8BD8-E2F1-4197-A071-A930B3A1AD2B}" type="datetimeFigureOut">
              <a:rPr lang="en-SL" smtClean="0"/>
              <a:t>07/01/2026</a:t>
            </a:fld>
            <a:endParaRPr lang="en-S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FA958-1669-9D7B-70F4-651AF928F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D91A0-FBD4-C41A-B844-AF3ABDAF0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52D1-1FDE-437F-97FB-3F35F1D7EAA9}" type="slidenum">
              <a:rPr lang="en-SL" smtClean="0"/>
              <a:t>‹#›</a:t>
            </a:fld>
            <a:endParaRPr lang="en-SL"/>
          </a:p>
        </p:txBody>
      </p:sp>
    </p:spTree>
    <p:extLst>
      <p:ext uri="{BB962C8B-B14F-4D97-AF65-F5344CB8AC3E}">
        <p14:creationId xmlns:p14="http://schemas.microsoft.com/office/powerpoint/2010/main" val="2603363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6DF60-B96F-1EC5-B35F-033C31779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921CF-0881-5C7D-BE24-B4DC998E1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021D22-FEAE-FA29-4521-CFF2FAD234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F880AF-D459-1C12-7B4A-91404381F1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A080D2-4BD1-BFFE-3A64-04CD2C340F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8902A5-AD9E-DE7C-05E9-A2E86636C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8BD8-E2F1-4197-A071-A930B3A1AD2B}" type="datetimeFigureOut">
              <a:rPr lang="en-SL" smtClean="0"/>
              <a:t>07/01/2026</a:t>
            </a:fld>
            <a:endParaRPr lang="en-S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445D73-4155-38C8-9BA5-A2E1047F4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180BF6-391B-8DB5-B1E1-7999609DB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52D1-1FDE-437F-97FB-3F35F1D7EAA9}" type="slidenum">
              <a:rPr lang="en-SL" smtClean="0"/>
              <a:t>‹#›</a:t>
            </a:fld>
            <a:endParaRPr lang="en-SL"/>
          </a:p>
        </p:txBody>
      </p:sp>
    </p:spTree>
    <p:extLst>
      <p:ext uri="{BB962C8B-B14F-4D97-AF65-F5344CB8AC3E}">
        <p14:creationId xmlns:p14="http://schemas.microsoft.com/office/powerpoint/2010/main" val="1008452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8F79A-6591-5FF6-FE8F-7C8584467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0DE496-12FD-9A75-B759-4C24C347D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8BD8-E2F1-4197-A071-A930B3A1AD2B}" type="datetimeFigureOut">
              <a:rPr lang="en-SL" smtClean="0"/>
              <a:t>07/01/2026</a:t>
            </a:fld>
            <a:endParaRPr lang="en-S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22430F-6229-1275-632A-8CF677C5A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5BCE2A-37C8-3B20-AB18-1EDF5E11C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52D1-1FDE-437F-97FB-3F35F1D7EAA9}" type="slidenum">
              <a:rPr lang="en-SL" smtClean="0"/>
              <a:t>‹#›</a:t>
            </a:fld>
            <a:endParaRPr lang="en-SL"/>
          </a:p>
        </p:txBody>
      </p:sp>
    </p:spTree>
    <p:extLst>
      <p:ext uri="{BB962C8B-B14F-4D97-AF65-F5344CB8AC3E}">
        <p14:creationId xmlns:p14="http://schemas.microsoft.com/office/powerpoint/2010/main" val="973265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B56DC1-3999-0088-F0C3-91FEE7A1F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8BD8-E2F1-4197-A071-A930B3A1AD2B}" type="datetimeFigureOut">
              <a:rPr lang="en-SL" smtClean="0"/>
              <a:t>07/01/2026</a:t>
            </a:fld>
            <a:endParaRPr lang="en-S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1AC708-9F08-C40A-74C7-2F2F2BA7D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24496-C112-8523-38F9-076E3DEC9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52D1-1FDE-437F-97FB-3F35F1D7EAA9}" type="slidenum">
              <a:rPr lang="en-SL" smtClean="0"/>
              <a:t>‹#›</a:t>
            </a:fld>
            <a:endParaRPr lang="en-SL"/>
          </a:p>
        </p:txBody>
      </p:sp>
    </p:spTree>
    <p:extLst>
      <p:ext uri="{BB962C8B-B14F-4D97-AF65-F5344CB8AC3E}">
        <p14:creationId xmlns:p14="http://schemas.microsoft.com/office/powerpoint/2010/main" val="4150028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5307E-B21F-C371-BC41-C761EFC2C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A1EEA-7C3D-294F-7DB6-3EB641B6C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900C6A-82C9-C681-7C75-6636B1A18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4C66B9-F1EB-BF24-EDEE-3C56BE4D8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8BD8-E2F1-4197-A071-A930B3A1AD2B}" type="datetimeFigureOut">
              <a:rPr lang="en-SL" smtClean="0"/>
              <a:t>07/01/2026</a:t>
            </a:fld>
            <a:endParaRPr lang="en-S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80634A-11DF-2B6F-08B7-C48947023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D34A-46D8-80BA-3F28-B2A0F87DB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52D1-1FDE-437F-97FB-3F35F1D7EAA9}" type="slidenum">
              <a:rPr lang="en-SL" smtClean="0"/>
              <a:t>‹#›</a:t>
            </a:fld>
            <a:endParaRPr lang="en-SL"/>
          </a:p>
        </p:txBody>
      </p:sp>
    </p:spTree>
    <p:extLst>
      <p:ext uri="{BB962C8B-B14F-4D97-AF65-F5344CB8AC3E}">
        <p14:creationId xmlns:p14="http://schemas.microsoft.com/office/powerpoint/2010/main" val="2499048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45A0F-ABBB-4CDE-2DC3-9C38703BC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BE3A4D-BC7A-162A-0AB4-F0CCAE74EC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50A2C-8B27-E18F-1F8A-2484768357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BD2E45-AC38-7882-A192-73117F45F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8BD8-E2F1-4197-A071-A930B3A1AD2B}" type="datetimeFigureOut">
              <a:rPr lang="en-SL" smtClean="0"/>
              <a:t>07/01/2026</a:t>
            </a:fld>
            <a:endParaRPr lang="en-S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F8BF4-FADF-927B-5619-042EEEDD6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C8F6A-02CB-57EC-FC83-5BDAC7B89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52D1-1FDE-437F-97FB-3F35F1D7EAA9}" type="slidenum">
              <a:rPr lang="en-SL" smtClean="0"/>
              <a:t>‹#›</a:t>
            </a:fld>
            <a:endParaRPr lang="en-SL"/>
          </a:p>
        </p:txBody>
      </p:sp>
    </p:spTree>
    <p:extLst>
      <p:ext uri="{BB962C8B-B14F-4D97-AF65-F5344CB8AC3E}">
        <p14:creationId xmlns:p14="http://schemas.microsoft.com/office/powerpoint/2010/main" val="4069900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B03FC-28C2-B3CD-B37B-4FA6988C3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B11D22-E913-1568-1AF4-A6407AD497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B9380-2519-874C-B0EF-3154049D6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8BD8-E2F1-4197-A071-A930B3A1AD2B}" type="datetimeFigureOut">
              <a:rPr lang="en-SL" smtClean="0"/>
              <a:t>07/01/2026</a:t>
            </a:fld>
            <a:endParaRPr lang="en-S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DA401-4608-6B9D-80AC-1489E2E03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0FFAA-DEAE-5680-3414-AEE342B7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52D1-1FDE-437F-97FB-3F35F1D7EAA9}" type="slidenum">
              <a:rPr lang="en-SL" smtClean="0"/>
              <a:t>‹#›</a:t>
            </a:fld>
            <a:endParaRPr lang="en-SL"/>
          </a:p>
        </p:txBody>
      </p:sp>
    </p:spTree>
    <p:extLst>
      <p:ext uri="{BB962C8B-B14F-4D97-AF65-F5344CB8AC3E}">
        <p14:creationId xmlns:p14="http://schemas.microsoft.com/office/powerpoint/2010/main" val="4023437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ADEA93-008D-5F30-B09D-E0AF7556ED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ED19FF-0E4E-F722-9395-FA6B98C26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29306-5802-9F3B-D421-E640E85F0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78BD8-E2F1-4197-A071-A930B3A1AD2B}" type="datetimeFigureOut">
              <a:rPr lang="en-SL" smtClean="0"/>
              <a:t>07/01/2026</a:t>
            </a:fld>
            <a:endParaRPr lang="en-S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94F8B-3153-9453-E0BE-69884A8D3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89B5E-F60D-791E-E418-DE6E17241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552D1-1FDE-437F-97FB-3F35F1D7EAA9}" type="slidenum">
              <a:rPr lang="en-SL" smtClean="0"/>
              <a:t>‹#›</a:t>
            </a:fld>
            <a:endParaRPr lang="en-SL"/>
          </a:p>
        </p:txBody>
      </p:sp>
    </p:spTree>
    <p:extLst>
      <p:ext uri="{BB962C8B-B14F-4D97-AF65-F5344CB8AC3E}">
        <p14:creationId xmlns:p14="http://schemas.microsoft.com/office/powerpoint/2010/main" val="3912141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7924F0-81A0-C21A-3A18-FA7451D60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0315F-0021-FD10-20E1-22C152FD0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7D791-E36F-477E-EBF8-48C710BFF3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C78BD8-E2F1-4197-A071-A930B3A1AD2B}" type="datetimeFigureOut">
              <a:rPr lang="en-SL" smtClean="0"/>
              <a:t>07/01/2026</a:t>
            </a:fld>
            <a:endParaRPr lang="en-S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5BA85-4C11-360F-50E5-6106F40C92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82382-1B69-6B13-8F0A-90E179DA2A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7552D1-1FDE-437F-97FB-3F35F1D7EAA9}" type="slidenum">
              <a:rPr lang="en-SL" smtClean="0"/>
              <a:t>‹#›</a:t>
            </a:fld>
            <a:endParaRPr lang="en-SL"/>
          </a:p>
        </p:txBody>
      </p:sp>
    </p:spTree>
    <p:extLst>
      <p:ext uri="{BB962C8B-B14F-4D97-AF65-F5344CB8AC3E}">
        <p14:creationId xmlns:p14="http://schemas.microsoft.com/office/powerpoint/2010/main" val="3319901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D868A9-A671-CC25-8A43-BB1C3FF473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SL" sz="3800"/>
              <a:t>Smart Ride-Hailing System A Digital Public Good for Sierra Leone PROG 102 - Principles of Software Engineering </a:t>
            </a:r>
            <a:br>
              <a:rPr lang="en-US" sz="3800"/>
            </a:br>
            <a:r>
              <a:rPr lang="en-SL" sz="3800"/>
              <a:t>Group [</a:t>
            </a:r>
            <a:r>
              <a:rPr lang="en-US" sz="3800"/>
              <a:t>2</a:t>
            </a:r>
            <a:r>
              <a:rPr lang="en-SL" sz="3800"/>
              <a:t>] </a:t>
            </a:r>
            <a:br>
              <a:rPr lang="en-US" sz="3800"/>
            </a:br>
            <a:r>
              <a:rPr lang="en-SL" sz="3800"/>
              <a:t>Date: [Presentation 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5846C-57EA-6E54-5231-CBD01F24C3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2058706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Name: </a:t>
            </a:r>
          </a:p>
          <a:p>
            <a:pPr marL="457200" indent="-457200" algn="l">
              <a:buAutoNum type="arabicPeriod"/>
            </a:pPr>
            <a:r>
              <a:rPr lang="en-US" dirty="0"/>
              <a:t>Alpha Rahman Sesay</a:t>
            </a:r>
          </a:p>
          <a:p>
            <a:pPr marL="457200" indent="-457200" algn="l">
              <a:buAutoNum type="arabicPeriod"/>
            </a:pPr>
            <a:r>
              <a:rPr lang="en-US" dirty="0"/>
              <a:t>Jospeh Vandy</a:t>
            </a:r>
          </a:p>
          <a:p>
            <a:pPr marL="457200" indent="-457200" algn="l">
              <a:buAutoNum type="arabicPeriod"/>
            </a:pPr>
            <a:r>
              <a:rPr lang="en-US" dirty="0"/>
              <a:t>Solomon</a:t>
            </a:r>
          </a:p>
          <a:p>
            <a:pPr marL="457200" indent="-457200" algn="l">
              <a:buAutoNum type="arabicPeriod"/>
            </a:pPr>
            <a:endParaRPr lang="en-SL" dirty="0"/>
          </a:p>
        </p:txBody>
      </p:sp>
      <p:pic>
        <p:nvPicPr>
          <p:cNvPr id="5" name="Picture 4" descr="A 3D pattern of ring shapes connected by lines">
            <a:extLst>
              <a:ext uri="{FF2B5EF4-FFF2-40B4-BE49-F238E27FC236}">
                <a16:creationId xmlns:a16="http://schemas.microsoft.com/office/drawing/2014/main" id="{39D75B4F-DC5B-AA3C-F8BF-ACD4B4C0A9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39" r="4726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06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6FF83-498D-1CA2-CC3F-7CF84C43D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S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BB90A-F6F9-5DF3-B6B6-9FF602EE9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7409" y="2213251"/>
            <a:ext cx="10515600" cy="4351338"/>
          </a:xfrm>
        </p:spPr>
        <p:txBody>
          <a:bodyPr/>
          <a:lstStyle/>
          <a:p>
            <a:r>
              <a:rPr lang="en-SL" b="1" dirty="0"/>
              <a:t>Introduction</a:t>
            </a:r>
          </a:p>
          <a:p>
            <a:r>
              <a:rPr lang="en-SL" b="1" dirty="0"/>
              <a:t>Problem Statement</a:t>
            </a:r>
          </a:p>
          <a:p>
            <a:r>
              <a:rPr lang="en-SL" dirty="0"/>
              <a:t>Informal transportation system </a:t>
            </a:r>
          </a:p>
          <a:p>
            <a:r>
              <a:rPr lang="en-SL" dirty="0"/>
              <a:t>Unpredictable fares </a:t>
            </a:r>
          </a:p>
          <a:p>
            <a:r>
              <a:rPr lang="en-SL" dirty="0"/>
              <a:t>Safety concerns </a:t>
            </a:r>
          </a:p>
          <a:p>
            <a:r>
              <a:rPr lang="en-SL" dirty="0"/>
              <a:t>Limited accountability </a:t>
            </a:r>
          </a:p>
          <a:p>
            <a:r>
              <a:rPr lang="en-SL" dirty="0"/>
              <a:t>Lack of digital payment integration </a:t>
            </a:r>
          </a:p>
          <a:p>
            <a:endParaRPr lang="en-SL" dirty="0"/>
          </a:p>
        </p:txBody>
      </p:sp>
    </p:spTree>
    <p:extLst>
      <p:ext uri="{BB962C8B-B14F-4D97-AF65-F5344CB8AC3E}">
        <p14:creationId xmlns:p14="http://schemas.microsoft.com/office/powerpoint/2010/main" val="623924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B9F974-8A04-4331-A82A-5F8E152E4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SL" sz="5400" b="1" dirty="0"/>
              <a:t>Project Justification</a:t>
            </a:r>
            <a:br>
              <a:rPr lang="en-SL" sz="5400" b="1" dirty="0"/>
            </a:br>
            <a:r>
              <a:rPr lang="en-SL" sz="5400" b="1" dirty="0"/>
              <a:t>Why this project?</a:t>
            </a:r>
          </a:p>
        </p:txBody>
      </p:sp>
      <p:pic>
        <p:nvPicPr>
          <p:cNvPr id="5" name="Picture 4" descr="Blurred motion traffic">
            <a:extLst>
              <a:ext uri="{FF2B5EF4-FFF2-40B4-BE49-F238E27FC236}">
                <a16:creationId xmlns:a16="http://schemas.microsoft.com/office/drawing/2014/main" id="{B834370C-ACB1-21F1-6013-3DCAEBC514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169" r="16499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AC309-722B-F826-021C-CD479088E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SL" sz="2400" dirty="0"/>
              <a:t>Formalizes transportation </a:t>
            </a:r>
          </a:p>
          <a:p>
            <a:r>
              <a:rPr lang="en-SL" sz="2400" dirty="0"/>
              <a:t>Improves passenger safety </a:t>
            </a:r>
          </a:p>
          <a:p>
            <a:r>
              <a:rPr lang="en-SL" sz="2400" dirty="0"/>
              <a:t>Supports local drivers </a:t>
            </a:r>
          </a:p>
          <a:p>
            <a:r>
              <a:rPr lang="en-SL" sz="2400" dirty="0"/>
              <a:t>Encourages digital payments </a:t>
            </a:r>
          </a:p>
          <a:p>
            <a:r>
              <a:rPr lang="en-SL" sz="2400" dirty="0"/>
              <a:t>Promotes sustainable urban mobility</a:t>
            </a:r>
          </a:p>
        </p:txBody>
      </p:sp>
    </p:spTree>
    <p:extLst>
      <p:ext uri="{BB962C8B-B14F-4D97-AF65-F5344CB8AC3E}">
        <p14:creationId xmlns:p14="http://schemas.microsoft.com/office/powerpoint/2010/main" val="3873397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2D6889-C394-6036-32ED-1FEFF9D04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5660049-E93C-573C-529C-76DCB5FA2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lurred motion traffic">
            <a:extLst>
              <a:ext uri="{FF2B5EF4-FFF2-40B4-BE49-F238E27FC236}">
                <a16:creationId xmlns:a16="http://schemas.microsoft.com/office/drawing/2014/main" id="{0C462EAD-B7FF-9962-F55A-7D0D0CE7EA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169" r="16499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BDC3F938-A4E8-324B-4156-35A39D063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DBCC9-292F-FF43-964F-60463514C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SL" sz="2400" dirty="0"/>
              <a:t>Our system contributes by:</a:t>
            </a:r>
          </a:p>
          <a:p>
            <a:r>
              <a:rPr lang="en-SL" sz="2400" dirty="0"/>
              <a:t>Optimizing urban mobility </a:t>
            </a:r>
          </a:p>
          <a:p>
            <a:r>
              <a:rPr lang="en-SL" sz="2400" dirty="0"/>
              <a:t>Reducing traffic congestion </a:t>
            </a:r>
          </a:p>
          <a:p>
            <a:r>
              <a:rPr lang="en-SL" sz="2400" dirty="0"/>
              <a:t>Lowering fuel consumption </a:t>
            </a:r>
          </a:p>
          <a:p>
            <a:r>
              <a:rPr lang="en-SL" sz="2400" dirty="0"/>
              <a:t>Improving passenger safety </a:t>
            </a:r>
          </a:p>
          <a:p>
            <a:r>
              <a:rPr lang="en-SL" sz="2400" dirty="0"/>
              <a:t>Supporting economic growth </a:t>
            </a:r>
          </a:p>
          <a:p>
            <a:r>
              <a:rPr lang="en-SL" sz="2400" dirty="0"/>
              <a:t>Encouraging digital inclusion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664C58D-C46C-E4CD-6ADE-40E4CBFBF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174" y="365125"/>
            <a:ext cx="6483626" cy="2009822"/>
          </a:xfrm>
        </p:spPr>
        <p:txBody>
          <a:bodyPr>
            <a:normAutofit fontScale="90000"/>
          </a:bodyPr>
          <a:lstStyle/>
          <a:p>
            <a:r>
              <a:rPr lang="en-SL" b="1" dirty="0"/>
              <a:t>Alignment with UN SDG 11</a:t>
            </a:r>
            <a:br>
              <a:rPr lang="en-SL" b="1" dirty="0"/>
            </a:br>
            <a:r>
              <a:rPr lang="en-SL" b="1" dirty="0"/>
              <a:t>Sustainable Cities and Communities</a:t>
            </a:r>
            <a:br>
              <a:rPr lang="en-SL" b="1" dirty="0"/>
            </a:br>
            <a:endParaRPr lang="en-SL" dirty="0"/>
          </a:p>
        </p:txBody>
      </p:sp>
    </p:spTree>
    <p:extLst>
      <p:ext uri="{BB962C8B-B14F-4D97-AF65-F5344CB8AC3E}">
        <p14:creationId xmlns:p14="http://schemas.microsoft.com/office/powerpoint/2010/main" val="2367111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0E3BAE-63FA-7C62-80D4-BE25EF242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5767" y="412208"/>
            <a:ext cx="5286025" cy="1338350"/>
          </a:xfrm>
        </p:spPr>
        <p:txBody>
          <a:bodyPr anchor="b">
            <a:normAutofit fontScale="90000"/>
          </a:bodyPr>
          <a:lstStyle/>
          <a:p>
            <a:r>
              <a:rPr lang="en-SL" sz="5400" dirty="0"/>
              <a:t>System Architecture Overview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DC2A8-73A6-62A4-0D78-1FCF6C6EF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9556" y="2603181"/>
            <a:ext cx="6251110" cy="3483864"/>
          </a:xfrm>
        </p:spPr>
        <p:txBody>
          <a:bodyPr>
            <a:normAutofit/>
          </a:bodyPr>
          <a:lstStyle/>
          <a:p>
            <a:r>
              <a:rPr lang="en-SL" sz="2200" dirty="0"/>
              <a:t>5-Layer Architecture:</a:t>
            </a:r>
            <a:endParaRPr lang="en-US" sz="2200" dirty="0"/>
          </a:p>
          <a:p>
            <a:r>
              <a:rPr lang="en-SL" sz="2200" dirty="0"/>
              <a:t> User Layer</a:t>
            </a:r>
            <a:endParaRPr lang="en-US" sz="2200" dirty="0"/>
          </a:p>
          <a:p>
            <a:r>
              <a:rPr lang="en-SL" sz="2200" dirty="0"/>
              <a:t> Business Layer </a:t>
            </a:r>
            <a:endParaRPr lang="en-US" sz="2200" dirty="0"/>
          </a:p>
          <a:p>
            <a:r>
              <a:rPr lang="en-SL" sz="2200" dirty="0"/>
              <a:t>Data Layer</a:t>
            </a:r>
            <a:endParaRPr lang="en-US" sz="2200" dirty="0"/>
          </a:p>
          <a:p>
            <a:r>
              <a:rPr lang="en-SL" sz="2200" dirty="0"/>
              <a:t> External Services</a:t>
            </a:r>
            <a:endParaRPr lang="en-US" sz="2200" dirty="0"/>
          </a:p>
          <a:p>
            <a:r>
              <a:rPr lang="en-SL" sz="2200" dirty="0"/>
              <a:t> Admin Layer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34A4A4-39E9-FD2B-FA92-01055F52BD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59" y="1750558"/>
            <a:ext cx="6682337" cy="4454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96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BF5B60-E7F1-EF51-4E4C-6083F8BE3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8B0816C-4CA2-0461-16A5-E33BF0EAC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lurred motion traffic">
            <a:extLst>
              <a:ext uri="{FF2B5EF4-FFF2-40B4-BE49-F238E27FC236}">
                <a16:creationId xmlns:a16="http://schemas.microsoft.com/office/drawing/2014/main" id="{11485D0F-0BC1-CA13-B75E-7AB6384722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169" r="16499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CC30B90E-29A1-4693-D444-4AB43BBE7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57DEA-A13D-40A3-A152-8632DD867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SL" sz="2400" dirty="0"/>
              <a:t>Passenger requests a ride. </a:t>
            </a:r>
          </a:p>
          <a:p>
            <a:r>
              <a:rPr lang="en-SL" sz="2400" dirty="0"/>
              <a:t>Backend calculates route and fare. </a:t>
            </a:r>
          </a:p>
          <a:p>
            <a:r>
              <a:rPr lang="en-SL" sz="2400" dirty="0"/>
              <a:t>System searches for nearby drivers. </a:t>
            </a:r>
          </a:p>
          <a:p>
            <a:r>
              <a:rPr lang="en-SL" sz="2400" dirty="0"/>
              <a:t>Driver accepts request. </a:t>
            </a:r>
          </a:p>
          <a:p>
            <a:r>
              <a:rPr lang="en-SL" sz="2400" dirty="0"/>
              <a:t>GPS tracking begins. </a:t>
            </a:r>
          </a:p>
          <a:p>
            <a:r>
              <a:rPr lang="en-SL" sz="2400" dirty="0"/>
              <a:t>Passenger pays through Mobile Money. </a:t>
            </a:r>
          </a:p>
          <a:p>
            <a:r>
              <a:rPr lang="en-SL" sz="2400" dirty="0"/>
              <a:t>Admin monitors transactions.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F819DB3-3388-49C3-B212-C855E8A04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174" y="365125"/>
            <a:ext cx="6483626" cy="2009822"/>
          </a:xfrm>
        </p:spPr>
        <p:txBody>
          <a:bodyPr>
            <a:normAutofit fontScale="90000"/>
          </a:bodyPr>
          <a:lstStyle/>
          <a:p>
            <a:r>
              <a:rPr lang="en-SL" b="1" dirty="0"/>
              <a:t>How the System Works</a:t>
            </a:r>
            <a:br>
              <a:rPr lang="en-SL" b="1" dirty="0"/>
            </a:br>
            <a:r>
              <a:rPr lang="en-SL" b="1" dirty="0"/>
              <a:t>Ride Booking Process</a:t>
            </a:r>
            <a:br>
              <a:rPr lang="en-SL" b="1" dirty="0"/>
            </a:br>
            <a:br>
              <a:rPr lang="en-SL" b="1" dirty="0"/>
            </a:br>
            <a:endParaRPr lang="en-SL" dirty="0"/>
          </a:p>
        </p:txBody>
      </p:sp>
    </p:spTree>
    <p:extLst>
      <p:ext uri="{BB962C8B-B14F-4D97-AF65-F5344CB8AC3E}">
        <p14:creationId xmlns:p14="http://schemas.microsoft.com/office/powerpoint/2010/main" val="3073281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B0AED-4417-561E-6DAA-229582FA7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0890" y="29593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SL" sz="5400" dirty="0"/>
              <a:t>Project Management - Gantt Char</a:t>
            </a:r>
            <a:r>
              <a:rPr lang="en-US" sz="5400" dirty="0"/>
              <a:t>t</a:t>
            </a:r>
            <a:endParaRPr lang="en-SL" sz="5400" dirty="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00C5B-6976-23E7-3D73-35CA15D4F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5796" y="2726575"/>
            <a:ext cx="6251110" cy="3483864"/>
          </a:xfrm>
        </p:spPr>
        <p:txBody>
          <a:bodyPr>
            <a:normAutofit/>
          </a:bodyPr>
          <a:lstStyle/>
          <a:p>
            <a:r>
              <a:rPr lang="en-SL" sz="2200" dirty="0"/>
              <a:t>Weeks 1-2 Requirements</a:t>
            </a:r>
            <a:endParaRPr lang="en-US" sz="2200" dirty="0"/>
          </a:p>
          <a:p>
            <a:r>
              <a:rPr lang="en-SL" sz="2200" dirty="0"/>
              <a:t> Weeks 3-4 Architecture &amp; DB</a:t>
            </a:r>
            <a:endParaRPr lang="en-US" sz="2200" dirty="0"/>
          </a:p>
          <a:p>
            <a:r>
              <a:rPr lang="en-SL" sz="2200" dirty="0"/>
              <a:t> Weeks 5-7 Development</a:t>
            </a:r>
            <a:endParaRPr lang="en-US" sz="2200" dirty="0"/>
          </a:p>
          <a:p>
            <a:r>
              <a:rPr lang="en-SL" sz="2200" dirty="0"/>
              <a:t> Weeks 8-9 Testing</a:t>
            </a:r>
            <a:endParaRPr lang="en-US" sz="2200" dirty="0"/>
          </a:p>
          <a:p>
            <a:r>
              <a:rPr lang="en-SL" sz="2200" dirty="0"/>
              <a:t> Week 10 </a:t>
            </a:r>
            <a:r>
              <a:rPr lang="en-SL" sz="2200" dirty="0" err="1"/>
              <a:t>Deploymen</a:t>
            </a:r>
            <a:r>
              <a:rPr lang="en-US" sz="2200" dirty="0"/>
              <a:t>t</a:t>
            </a:r>
            <a:endParaRPr lang="en-SL" sz="2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2F0AD0-9B43-16E2-F3F4-A832E9CF5C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790400"/>
              </p:ext>
            </p:extLst>
          </p:nvPr>
        </p:nvGraphicFramePr>
        <p:xfrm>
          <a:off x="498130" y="1465870"/>
          <a:ext cx="5419536" cy="43400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1628">
                  <a:extLst>
                    <a:ext uri="{9D8B030D-6E8A-4147-A177-3AD203B41FA5}">
                      <a16:colId xmlns:a16="http://schemas.microsoft.com/office/drawing/2014/main" val="2117499483"/>
                    </a:ext>
                  </a:extLst>
                </a:gridCol>
                <a:gridCol w="451628">
                  <a:extLst>
                    <a:ext uri="{9D8B030D-6E8A-4147-A177-3AD203B41FA5}">
                      <a16:colId xmlns:a16="http://schemas.microsoft.com/office/drawing/2014/main" val="2231073466"/>
                    </a:ext>
                  </a:extLst>
                </a:gridCol>
                <a:gridCol w="451628">
                  <a:extLst>
                    <a:ext uri="{9D8B030D-6E8A-4147-A177-3AD203B41FA5}">
                      <a16:colId xmlns:a16="http://schemas.microsoft.com/office/drawing/2014/main" val="3394552836"/>
                    </a:ext>
                  </a:extLst>
                </a:gridCol>
                <a:gridCol w="451628">
                  <a:extLst>
                    <a:ext uri="{9D8B030D-6E8A-4147-A177-3AD203B41FA5}">
                      <a16:colId xmlns:a16="http://schemas.microsoft.com/office/drawing/2014/main" val="533753232"/>
                    </a:ext>
                  </a:extLst>
                </a:gridCol>
                <a:gridCol w="451628">
                  <a:extLst>
                    <a:ext uri="{9D8B030D-6E8A-4147-A177-3AD203B41FA5}">
                      <a16:colId xmlns:a16="http://schemas.microsoft.com/office/drawing/2014/main" val="1115450295"/>
                    </a:ext>
                  </a:extLst>
                </a:gridCol>
                <a:gridCol w="451628">
                  <a:extLst>
                    <a:ext uri="{9D8B030D-6E8A-4147-A177-3AD203B41FA5}">
                      <a16:colId xmlns:a16="http://schemas.microsoft.com/office/drawing/2014/main" val="765791259"/>
                    </a:ext>
                  </a:extLst>
                </a:gridCol>
                <a:gridCol w="451628">
                  <a:extLst>
                    <a:ext uri="{9D8B030D-6E8A-4147-A177-3AD203B41FA5}">
                      <a16:colId xmlns:a16="http://schemas.microsoft.com/office/drawing/2014/main" val="1694418616"/>
                    </a:ext>
                  </a:extLst>
                </a:gridCol>
                <a:gridCol w="451628">
                  <a:extLst>
                    <a:ext uri="{9D8B030D-6E8A-4147-A177-3AD203B41FA5}">
                      <a16:colId xmlns:a16="http://schemas.microsoft.com/office/drawing/2014/main" val="1104716306"/>
                    </a:ext>
                  </a:extLst>
                </a:gridCol>
                <a:gridCol w="451628">
                  <a:extLst>
                    <a:ext uri="{9D8B030D-6E8A-4147-A177-3AD203B41FA5}">
                      <a16:colId xmlns:a16="http://schemas.microsoft.com/office/drawing/2014/main" val="2849994556"/>
                    </a:ext>
                  </a:extLst>
                </a:gridCol>
                <a:gridCol w="451628">
                  <a:extLst>
                    <a:ext uri="{9D8B030D-6E8A-4147-A177-3AD203B41FA5}">
                      <a16:colId xmlns:a16="http://schemas.microsoft.com/office/drawing/2014/main" val="3657999975"/>
                    </a:ext>
                  </a:extLst>
                </a:gridCol>
                <a:gridCol w="451628">
                  <a:extLst>
                    <a:ext uri="{9D8B030D-6E8A-4147-A177-3AD203B41FA5}">
                      <a16:colId xmlns:a16="http://schemas.microsoft.com/office/drawing/2014/main" val="3251378091"/>
                    </a:ext>
                  </a:extLst>
                </a:gridCol>
                <a:gridCol w="451628">
                  <a:extLst>
                    <a:ext uri="{9D8B030D-6E8A-4147-A177-3AD203B41FA5}">
                      <a16:colId xmlns:a16="http://schemas.microsoft.com/office/drawing/2014/main" val="777261759"/>
                    </a:ext>
                  </a:extLst>
                </a:gridCol>
              </a:tblGrid>
              <a:tr h="412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Project Phase &amp; Core Tasks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Weeks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W1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W2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W3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W4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W5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W6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W7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>
                          <a:effectLst/>
                        </a:rPr>
                        <a:t>W8</a:t>
                      </a:r>
                      <a:endParaRPr lang="en-SL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W9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W10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extLst>
                  <a:ext uri="{0D108BD9-81ED-4DB2-BD59-A6C34878D82A}">
                    <a16:rowId xmlns:a16="http://schemas.microsoft.com/office/drawing/2014/main" val="1442771869"/>
                  </a:ext>
                </a:extLst>
              </a:tr>
              <a:tr h="895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effectLst/>
                        </a:rPr>
                        <a:t>Phase 1: Research &amp; UI/UX Design</a:t>
                      </a:r>
                      <a:endParaRPr lang="en-SL" sz="500">
                        <a:effectLst/>
                      </a:endParaRPr>
                    </a:p>
                    <a:p>
                      <a:pPr>
                        <a:buNone/>
                      </a:pPr>
                      <a:br>
                        <a:rPr lang="en-US" sz="600">
                          <a:effectLst/>
                        </a:rPr>
                      </a:br>
                      <a:endParaRPr lang="en-SL" sz="6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500">
                          <a:effectLst/>
                        </a:rPr>
                        <a:t>(Tasks A &amp; B: Planning &amp; Figma Specs)</a:t>
                      </a:r>
                      <a:endParaRPr lang="en-SL" sz="5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W1 - W3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🟩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🟩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🟩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extLst>
                  <a:ext uri="{0D108BD9-81ED-4DB2-BD59-A6C34878D82A}">
                    <a16:rowId xmlns:a16="http://schemas.microsoft.com/office/drawing/2014/main" val="766820542"/>
                  </a:ext>
                </a:extLst>
              </a:tr>
              <a:tr h="973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effectLst/>
                        </a:rPr>
                        <a:t>Phase 2: Core Engineering &amp; Data</a:t>
                      </a:r>
                      <a:endParaRPr lang="en-SL" sz="500">
                        <a:effectLst/>
                      </a:endParaRPr>
                    </a:p>
                    <a:p>
                      <a:pPr>
                        <a:buNone/>
                      </a:pPr>
                      <a:br>
                        <a:rPr lang="en-US" sz="600">
                          <a:effectLst/>
                        </a:rPr>
                      </a:br>
                      <a:endParaRPr lang="en-SL" sz="6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500">
                          <a:effectLst/>
                        </a:rPr>
                        <a:t>(Tasks C &amp; D: Architecture &amp; MySQL)</a:t>
                      </a:r>
                      <a:endParaRPr lang="en-SL" sz="5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W3 - W4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🟩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🟩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extLst>
                  <a:ext uri="{0D108BD9-81ED-4DB2-BD59-A6C34878D82A}">
                    <a16:rowId xmlns:a16="http://schemas.microsoft.com/office/drawing/2014/main" val="2628091824"/>
                  </a:ext>
                </a:extLst>
              </a:tr>
              <a:tr h="973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effectLst/>
                        </a:rPr>
                        <a:t>Phase 3: Integration &amp; Frontend Build</a:t>
                      </a:r>
                      <a:endParaRPr lang="en-SL" sz="500">
                        <a:effectLst/>
                      </a:endParaRPr>
                    </a:p>
                    <a:p>
                      <a:pPr>
                        <a:buNone/>
                      </a:pPr>
                      <a:br>
                        <a:rPr lang="en-US" sz="600">
                          <a:effectLst/>
                        </a:rPr>
                      </a:br>
                      <a:endParaRPr lang="en-SL" sz="6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500">
                          <a:effectLst/>
                        </a:rPr>
                        <a:t>(Tasks E, F &amp; G: Backend, App, APIs)</a:t>
                      </a:r>
                      <a:endParaRPr lang="en-SL" sz="5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W5 - W7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🟩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🟩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🟩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extLst>
                  <a:ext uri="{0D108BD9-81ED-4DB2-BD59-A6C34878D82A}">
                    <a16:rowId xmlns:a16="http://schemas.microsoft.com/office/drawing/2014/main" val="3593710346"/>
                  </a:ext>
                </a:extLst>
              </a:tr>
              <a:tr h="1052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500">
                          <a:effectLst/>
                        </a:rPr>
                        <a:t>Phase 4: Validation &amp; Deployment</a:t>
                      </a:r>
                      <a:endParaRPr lang="en-SL" sz="500">
                        <a:effectLst/>
                      </a:endParaRPr>
                    </a:p>
                    <a:p>
                      <a:pPr>
                        <a:buNone/>
                      </a:pPr>
                      <a:br>
                        <a:rPr lang="en-US" sz="600">
                          <a:effectLst/>
                        </a:rPr>
                      </a:br>
                      <a:endParaRPr lang="en-SL" sz="6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500">
                          <a:effectLst/>
                        </a:rPr>
                        <a:t>(Tasks H, I, J &amp; K: QA, Admin Web, Release)</a:t>
                      </a:r>
                      <a:endParaRPr lang="en-SL" sz="5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W8 - W10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L" sz="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🟩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🟩</a:t>
                      </a:r>
                      <a:endParaRPr lang="en-SL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>
                          <a:effectLst/>
                        </a:rPr>
                        <a:t>🟩</a:t>
                      </a:r>
                      <a:endParaRPr lang="en-SL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8" marR="58908" marT="39272" marB="39272" anchor="ctr"/>
                </a:tc>
                <a:extLst>
                  <a:ext uri="{0D108BD9-81ED-4DB2-BD59-A6C34878D82A}">
                    <a16:rowId xmlns:a16="http://schemas.microsoft.com/office/drawing/2014/main" val="450865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9311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E2EBB3-8BBA-DC55-C611-6BFF7D6D5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SL" sz="4000"/>
              <a:t>Prototype Screens (UI/UX</a:t>
            </a:r>
            <a:r>
              <a:rPr lang="en-US" sz="4000"/>
              <a:t>)</a:t>
            </a:r>
            <a:endParaRPr lang="en-SL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C37E5-63A7-FB9C-9483-3A452533F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799" y="2171107"/>
            <a:ext cx="5334197" cy="3769835"/>
          </a:xfrm>
        </p:spPr>
        <p:txBody>
          <a:bodyPr anchor="ctr">
            <a:normAutofit lnSpcReduction="10000"/>
          </a:bodyPr>
          <a:lstStyle/>
          <a:p>
            <a:r>
              <a:rPr lang="en-SL" sz="2000" dirty="0"/>
              <a:t>Splash Screen</a:t>
            </a:r>
            <a:endParaRPr lang="en-US" sz="2000" dirty="0"/>
          </a:p>
          <a:p>
            <a:r>
              <a:rPr lang="en-SL" sz="2000" dirty="0"/>
              <a:t> Login </a:t>
            </a:r>
            <a:endParaRPr lang="en-US" sz="2000" dirty="0"/>
          </a:p>
          <a:p>
            <a:r>
              <a:rPr lang="en-SL" sz="2000" dirty="0"/>
              <a:t>OTP </a:t>
            </a:r>
            <a:endParaRPr lang="en-US" sz="2000" dirty="0"/>
          </a:p>
          <a:p>
            <a:r>
              <a:rPr lang="en-SL" sz="2000" dirty="0"/>
              <a:t>Home Map</a:t>
            </a:r>
            <a:endParaRPr lang="en-US" sz="2000" dirty="0"/>
          </a:p>
          <a:p>
            <a:r>
              <a:rPr lang="en-SL" sz="2000" dirty="0"/>
              <a:t> Request Ride</a:t>
            </a:r>
            <a:endParaRPr lang="en-US" sz="2000" dirty="0"/>
          </a:p>
          <a:p>
            <a:r>
              <a:rPr lang="en-SL" sz="2000" dirty="0"/>
              <a:t> Tracking </a:t>
            </a:r>
            <a:endParaRPr lang="en-US" sz="2000" dirty="0"/>
          </a:p>
          <a:p>
            <a:r>
              <a:rPr lang="en-SL" sz="2000" dirty="0"/>
              <a:t>Payment</a:t>
            </a:r>
            <a:endParaRPr lang="en-US" sz="2000" dirty="0"/>
          </a:p>
          <a:p>
            <a:r>
              <a:rPr lang="en-SL" sz="2000" dirty="0"/>
              <a:t> Confirmation</a:t>
            </a:r>
            <a:endParaRPr lang="en-US" sz="2000" dirty="0"/>
          </a:p>
          <a:p>
            <a:r>
              <a:rPr lang="en-SL" sz="2000" dirty="0"/>
              <a:t> Profile  </a:t>
            </a:r>
            <a:endParaRPr lang="en-US" sz="2000" dirty="0"/>
          </a:p>
          <a:p>
            <a:r>
              <a:rPr lang="en-US" sz="2000" dirty="0"/>
              <a:t>Car Condition </a:t>
            </a:r>
            <a:endParaRPr lang="en-SL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DB2F47-F32C-F1C7-97E6-8FC82E8903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7129" y="1562581"/>
            <a:ext cx="8449519" cy="412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994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77B53B-F64A-0981-2126-E24E793AB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SL" sz="5400" b="1" dirty="0"/>
              <a:t>Key Features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F5C01-C278-AE61-C853-43595B8EC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 lnSpcReduction="10000"/>
          </a:bodyPr>
          <a:lstStyle/>
          <a:p>
            <a:r>
              <a:rPr lang="en-SL" sz="2400" dirty="0"/>
              <a:t>GPS Location Tracking </a:t>
            </a:r>
          </a:p>
          <a:p>
            <a:r>
              <a:rPr lang="en-SL" sz="2400" dirty="0"/>
              <a:t>Driver Verification </a:t>
            </a:r>
          </a:p>
          <a:p>
            <a:r>
              <a:rPr lang="en-SL" sz="2400" dirty="0"/>
              <a:t>Real-Time Driver Matching </a:t>
            </a:r>
          </a:p>
          <a:p>
            <a:r>
              <a:rPr lang="en-SL" sz="2400" dirty="0"/>
              <a:t>Fare Calculation </a:t>
            </a:r>
          </a:p>
          <a:p>
            <a:r>
              <a:rPr lang="en-SL" sz="2400" dirty="0"/>
              <a:t>Mobile Money Payments </a:t>
            </a:r>
          </a:p>
          <a:p>
            <a:r>
              <a:rPr lang="en-SL" sz="2400" dirty="0"/>
              <a:t>Digital Receipts </a:t>
            </a:r>
          </a:p>
          <a:p>
            <a:r>
              <a:rPr lang="en-SL" sz="2400" dirty="0"/>
              <a:t>User Ratings </a:t>
            </a:r>
          </a:p>
          <a:p>
            <a:r>
              <a:rPr lang="en-SL" sz="2400" dirty="0"/>
              <a:t>Profile Management</a:t>
            </a:r>
          </a:p>
        </p:txBody>
      </p:sp>
      <p:pic>
        <p:nvPicPr>
          <p:cNvPr id="4" name="Picture 3" descr="Blurred motion traffic">
            <a:extLst>
              <a:ext uri="{FF2B5EF4-FFF2-40B4-BE49-F238E27FC236}">
                <a16:creationId xmlns:a16="http://schemas.microsoft.com/office/drawing/2014/main" id="{D2D3C61A-6799-DB29-D856-5879A32199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169" r="16499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58957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66C15-5380-92A8-EC3E-4ED8FF96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7345" y="365125"/>
            <a:ext cx="6696455" cy="1325563"/>
          </a:xfrm>
        </p:spPr>
        <p:txBody>
          <a:bodyPr/>
          <a:lstStyle/>
          <a:p>
            <a:r>
              <a:rPr lang="en-SL" b="1" dirty="0"/>
              <a:t>Benefits</a:t>
            </a:r>
            <a:br>
              <a:rPr lang="en-SL" b="1" dirty="0"/>
            </a:br>
            <a:endParaRPr lang="en-SL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579D6-C090-F73B-BA6A-9D0DCF6DD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0296" y="1825625"/>
            <a:ext cx="6503504" cy="466725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	</a:t>
            </a:r>
            <a:r>
              <a:rPr lang="en-SL" b="1" dirty="0"/>
              <a:t>For Passengers</a:t>
            </a:r>
            <a:endParaRPr lang="en-US" dirty="0"/>
          </a:p>
          <a:p>
            <a:r>
              <a:rPr lang="en-SL" dirty="0"/>
              <a:t>Safe transportation </a:t>
            </a:r>
          </a:p>
          <a:p>
            <a:r>
              <a:rPr lang="en-SL" dirty="0"/>
              <a:t>Transparent pricing </a:t>
            </a:r>
          </a:p>
          <a:p>
            <a:r>
              <a:rPr lang="en-SL" dirty="0"/>
              <a:t>Shorter waiting time </a:t>
            </a:r>
          </a:p>
          <a:p>
            <a:r>
              <a:rPr lang="en-SL" dirty="0"/>
              <a:t>Cashless payment 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SL" b="1" dirty="0"/>
              <a:t>For Drivers</a:t>
            </a:r>
          </a:p>
          <a:p>
            <a:r>
              <a:rPr lang="en-SL" dirty="0"/>
              <a:t>Flexible income </a:t>
            </a:r>
          </a:p>
          <a:p>
            <a:r>
              <a:rPr lang="en-SL" dirty="0"/>
              <a:t>More customers </a:t>
            </a:r>
          </a:p>
          <a:p>
            <a:r>
              <a:rPr lang="en-SL" dirty="0"/>
              <a:t>Fair rating system 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SL" b="1" dirty="0"/>
              <a:t>For Government</a:t>
            </a:r>
          </a:p>
          <a:p>
            <a:r>
              <a:rPr lang="en-SL" dirty="0"/>
              <a:t>Better transport management </a:t>
            </a:r>
          </a:p>
          <a:p>
            <a:r>
              <a:rPr lang="en-SL" dirty="0"/>
              <a:t>Improved data collection </a:t>
            </a:r>
          </a:p>
          <a:p>
            <a:r>
              <a:rPr lang="en-SL" dirty="0"/>
              <a:t>Supports smart city initiatives</a:t>
            </a:r>
          </a:p>
          <a:p>
            <a:endParaRPr lang="en-SL" dirty="0"/>
          </a:p>
        </p:txBody>
      </p:sp>
      <p:pic>
        <p:nvPicPr>
          <p:cNvPr id="4" name="Picture 3" descr="Blurred motion traffic">
            <a:extLst>
              <a:ext uri="{FF2B5EF4-FFF2-40B4-BE49-F238E27FC236}">
                <a16:creationId xmlns:a16="http://schemas.microsoft.com/office/drawing/2014/main" id="{8313A5DF-A7EF-F911-5A69-697B01B343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169" r="16499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59842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86DD4-AF77-0C36-9B20-2D69BA038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8646A-9849-40E7-05EE-42954E850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478" y="365125"/>
            <a:ext cx="6533322" cy="1325563"/>
          </a:xfrm>
        </p:spPr>
        <p:txBody>
          <a:bodyPr>
            <a:normAutofit fontScale="90000"/>
          </a:bodyPr>
          <a:lstStyle/>
          <a:p>
            <a:r>
              <a:rPr lang="en-SL" b="1" dirty="0"/>
              <a:t>Conclusion</a:t>
            </a:r>
            <a:br>
              <a:rPr lang="en-SL" b="1" dirty="0"/>
            </a:br>
            <a:br>
              <a:rPr lang="en-SL" b="1" dirty="0"/>
            </a:br>
            <a:endParaRPr lang="en-SL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AFAFF-F5AE-E084-EFBF-B7382CFE8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9017" y="1825625"/>
            <a:ext cx="6294783" cy="4667250"/>
          </a:xfrm>
        </p:spPr>
        <p:txBody>
          <a:bodyPr>
            <a:normAutofit/>
          </a:bodyPr>
          <a:lstStyle/>
          <a:p>
            <a:r>
              <a:rPr lang="en-SL" b="1" dirty="0"/>
              <a:t>Summary</a:t>
            </a:r>
          </a:p>
          <a:p>
            <a:r>
              <a:rPr lang="en-SL" dirty="0"/>
              <a:t>Solves transportation challenges in Sierra Leone. </a:t>
            </a:r>
          </a:p>
          <a:p>
            <a:r>
              <a:rPr lang="en-SL" dirty="0"/>
              <a:t>Supports Sustainable Development Goal 11. </a:t>
            </a:r>
          </a:p>
          <a:p>
            <a:r>
              <a:rPr lang="en-SL" dirty="0"/>
              <a:t>Uses scalable layered architecture. </a:t>
            </a:r>
          </a:p>
          <a:p>
            <a:r>
              <a:rPr lang="en-SL" dirty="0"/>
              <a:t>Provides secure and transparent ride-hailing services. </a:t>
            </a:r>
          </a:p>
          <a:p>
            <a:r>
              <a:rPr lang="en-SL" dirty="0"/>
              <a:t>Promotes digital inclusion and economic growth.</a:t>
            </a:r>
          </a:p>
        </p:txBody>
      </p:sp>
      <p:pic>
        <p:nvPicPr>
          <p:cNvPr id="4" name="Picture 3" descr="Blurred motion traffic">
            <a:extLst>
              <a:ext uri="{FF2B5EF4-FFF2-40B4-BE49-F238E27FC236}">
                <a16:creationId xmlns:a16="http://schemas.microsoft.com/office/drawing/2014/main" id="{61A71269-F020-673A-A025-BD0595C9F9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169" r="16499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04686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447</Words>
  <Application>Microsoft Office PowerPoint</Application>
  <PresentationFormat>Widescreen</PresentationFormat>
  <Paragraphs>128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Times New Roman</vt:lpstr>
      <vt:lpstr>Office Theme</vt:lpstr>
      <vt:lpstr>Smart Ride-Hailing System A Digital Public Good for Sierra Leone PROG 102 - Principles of Software Engineering  Group [2]  Date: [Presentation Date</vt:lpstr>
      <vt:lpstr>INTRODUCTION</vt:lpstr>
      <vt:lpstr>Project Justification Why this project?</vt:lpstr>
      <vt:lpstr>Alignment with UN SDG 11 Sustainable Cities and Communities </vt:lpstr>
      <vt:lpstr>System Architecture Overview</vt:lpstr>
      <vt:lpstr>How the System Works Ride Booking Process  </vt:lpstr>
      <vt:lpstr>Project Management - Gantt Chart</vt:lpstr>
      <vt:lpstr>Prototype Screens (UI/UX)</vt:lpstr>
      <vt:lpstr>Key Features</vt:lpstr>
      <vt:lpstr>Benefits </vt:lpstr>
      <vt:lpstr>Conclusion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Alpha Sesay</dc:creator>
  <cp:lastModifiedBy>Joseph Vandy</cp:lastModifiedBy>
  <cp:revision>4</cp:revision>
  <dcterms:created xsi:type="dcterms:W3CDTF">2026-06-24T08:25:13Z</dcterms:created>
  <dcterms:modified xsi:type="dcterms:W3CDTF">2026-07-01T16:41:43Z</dcterms:modified>
</cp:coreProperties>
</file>